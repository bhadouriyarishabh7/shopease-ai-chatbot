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70" r:id="rId10"/>
    <p:sldId id="262" r:id="rId11"/>
    <p:sldId id="271" r:id="rId12"/>
    <p:sldId id="272" r:id="rId13"/>
    <p:sldId id="264" r:id="rId14"/>
    <p:sldId id="273" r:id="rId15"/>
    <p:sldId id="26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591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12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8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9.png"/><Relationship Id="rId2" Type="http://schemas.openxmlformats.org/officeDocument/2006/relationships/image" Target="../media/image12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8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5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28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50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5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28.png"/><Relationship Id="rId15" Type="http://schemas.openxmlformats.org/officeDocument/2006/relationships/image" Target="../media/image60.png"/><Relationship Id="rId10" Type="http://schemas.openxmlformats.org/officeDocument/2006/relationships/image" Target="../media/image54.png"/><Relationship Id="rId4" Type="http://schemas.openxmlformats.org/officeDocument/2006/relationships/image" Target="../media/image50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27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66.png"/><Relationship Id="rId5" Type="http://schemas.openxmlformats.org/officeDocument/2006/relationships/image" Target="../media/image28.png"/><Relationship Id="rId10" Type="http://schemas.openxmlformats.org/officeDocument/2006/relationships/image" Target="../media/image65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27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66.png"/><Relationship Id="rId5" Type="http://schemas.openxmlformats.org/officeDocument/2006/relationships/image" Target="../media/image28.png"/><Relationship Id="rId10" Type="http://schemas.openxmlformats.org/officeDocument/2006/relationships/image" Target="../media/image65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27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74.png"/><Relationship Id="rId5" Type="http://schemas.openxmlformats.org/officeDocument/2006/relationships/image" Target="../media/image28.png"/><Relationship Id="rId10" Type="http://schemas.openxmlformats.org/officeDocument/2006/relationships/image" Target="../media/image73.png"/><Relationship Id="rId4" Type="http://schemas.openxmlformats.org/officeDocument/2006/relationships/image" Target="../media/image69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0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8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43.png"/><Relationship Id="rId5" Type="http://schemas.openxmlformats.org/officeDocument/2006/relationships/image" Target="../media/image28.png"/><Relationship Id="rId10" Type="http://schemas.openxmlformats.org/officeDocument/2006/relationships/image" Target="../media/image88.png"/><Relationship Id="rId4" Type="http://schemas.openxmlformats.org/officeDocument/2006/relationships/image" Target="../media/image86.png"/><Relationship Id="rId9" Type="http://schemas.openxmlformats.org/officeDocument/2006/relationships/image" Target="../media/image39.png"/><Relationship Id="rId1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7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89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86.png"/><Relationship Id="rId9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27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98.png"/><Relationship Id="rId5" Type="http://schemas.openxmlformats.org/officeDocument/2006/relationships/image" Target="../media/image28.png"/><Relationship Id="rId15" Type="http://schemas.openxmlformats.org/officeDocument/2006/relationships/image" Target="../media/image102.jpeg"/><Relationship Id="rId10" Type="http://schemas.openxmlformats.org/officeDocument/2006/relationships/image" Target="../media/image97.png"/><Relationship Id="rId4" Type="http://schemas.openxmlformats.org/officeDocument/2006/relationships/image" Target="../media/image93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686425"/>
            <a:ext cx="11220450" cy="74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495300"/>
            <a:ext cx="22193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1998910"/>
            <a:ext cx="838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E-COMMERCE CHATBOT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2227510"/>
            <a:ext cx="8801100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0" i="0" u="none">
                <a:solidFill>
                  <a:srgbClr val="0F172A"/>
                </a:solidFill>
                <a:latin typeface="Plus Jakarta Sans ExtraBold"/>
              </a:rPr>
              <a:t>ShopEase AI: Smart Shopping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3387476"/>
            <a:ext cx="8382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 complete, step-by-step guide to building an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Intent and Entity-based AI chatbot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on IBM watsonx Assistant. The bot helps customers search electronic gadgets, discover discounts, track orders in real-time, and transfer to human support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9225" y="6124575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 dirty="0">
                <a:solidFill>
                  <a:srgbClr val="64748B"/>
                </a:solidFill>
                <a:latin typeface="JetBrains Mono"/>
              </a:rPr>
              <a:t>Platform: 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IBM </a:t>
            </a:r>
            <a:r>
              <a:rPr sz="900" b="1" i="0" u="none" dirty="0" err="1">
                <a:solidFill>
                  <a:srgbClr val="64748B"/>
                </a:solidFill>
                <a:latin typeface="JetBrains Mono"/>
              </a:rPr>
              <a:t>watsonx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 Assistant (au-</a:t>
            </a:r>
            <a:r>
              <a:rPr sz="900" b="1" i="0" u="none" dirty="0" err="1">
                <a:solidFill>
                  <a:srgbClr val="64748B"/>
                </a:solidFill>
                <a:latin typeface="JetBrains Mono"/>
              </a:rPr>
              <a:t>syd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)</a:t>
            </a:r>
            <a:r>
              <a:rPr dirty="0"/>
              <a:t>
</a:t>
            </a:r>
            <a:r>
              <a:rPr sz="900" b="0" i="0" u="none" dirty="0">
                <a:solidFill>
                  <a:srgbClr val="64748B"/>
                </a:solidFill>
                <a:latin typeface="JetBrains Mono"/>
              </a:rPr>
              <a:t>Target Site: </a:t>
            </a:r>
            <a:r>
              <a:rPr sz="900" b="1" i="0" u="none" dirty="0">
                <a:solidFill>
                  <a:srgbClr val="64748B"/>
                </a:solidFill>
                <a:latin typeface="JetBrains Mono"/>
              </a:rPr>
              <a:t>Retail Web Architecture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8625"/>
            <a:ext cx="419100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433387"/>
            <a:ext cx="25431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IBM watsonx Assistant</a:t>
            </a:r>
            <a:r>
              <a:rPr sz="1200" b="0" i="0" u="none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AI-Powered Conversational Shopping Assistant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4325689"/>
            <a:ext cx="18002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3638" y="4325689"/>
            <a:ext cx="18669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4325689"/>
            <a:ext cx="21336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5867400"/>
            <a:ext cx="3276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TEAM MEMBERS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262" y="54292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382839"/>
            <a:ext cx="95250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6975" y="4382839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4862" y="4378076"/>
            <a:ext cx="95250" cy="104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4" y="6057900"/>
            <a:ext cx="11906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Ritika Tyagi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0" i="0" u="none" dirty="0">
                <a:solidFill>
                  <a:srgbClr val="0284C7"/>
                </a:solidFill>
                <a:latin typeface="Inter SemiBold"/>
              </a:rPr>
              <a:t>Reg No: 12528797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3575" y="6057900"/>
            <a:ext cx="18288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Rishabh Singh Bhadouriya</a:t>
            </a:r>
            <a:r>
              <a:rPr sz="1200" b="0" i="0" u="none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284C7"/>
                </a:solidFill>
                <a:latin typeface="Inter SemiBold"/>
              </a:rPr>
              <a:t>Reg No: 12523735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14450"/>
            <a:ext cx="3587650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1314450"/>
            <a:ext cx="3587799" cy="5114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425" y="1314450"/>
            <a:ext cx="3587650" cy="5114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28625"/>
            <a:ext cx="481979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685800"/>
            <a:ext cx="12192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00075"/>
            <a:ext cx="506078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What Type of Chatbot Did We Create?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6057900"/>
            <a:ext cx="1704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625" y="6057900"/>
            <a:ext cx="15716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7025" y="6057900"/>
            <a:ext cx="21050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1476375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2028825"/>
            <a:ext cx="3316977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Intent &amp; Entity NLU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2266950"/>
            <a:ext cx="3159025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Instead of simple yes/no buttons, this bot uses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Natural Language Understanding (NLU)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to understand real customer language.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0625" y="1476375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0625" y="2028825"/>
            <a:ext cx="331713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Domain-Specific E-Commerce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625" y="2266950"/>
            <a:ext cx="3159174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Designed specifically for 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Electronics Online Store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to help shoppers throughout their entire buying journey.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7025" y="1476375"/>
            <a:ext cx="419100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7025" y="2028825"/>
            <a:ext cx="3316977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Hybrid Customer Support 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025" y="2266950"/>
            <a:ext cx="3159025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Combines automated self-service with a smooth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Human Fallback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option whenever an issue is complex.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675" y="1590675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625" y="29191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921198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Intent: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Understands what the user wants (e.g., finding a laptop).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2918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293864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Entity: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Captures specific details (e.g., brand name "Dell").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0638" y="1590675"/>
            <a:ext cx="21907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25875" y="29191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2075" y="2921198"/>
            <a:ext cx="2987724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Search: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Quickly suggests phones, laptops, and headphones.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5875" y="32918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2075" y="3293864"/>
            <a:ext cx="2987724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Promotions: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Shares active coupon codes and discounts.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5875" y="366450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2075" y="3666529"/>
            <a:ext cx="2987724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Tracking: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Checks delivery status with an Order ID.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61325" y="1590675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42275" y="29191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8475" y="2921198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Automated: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Answers common queries immediately.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2275" y="32918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8475" y="3293864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Clarification: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users to rephrase if input is unclear.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2275" y="366450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8475" y="3666529"/>
            <a:ext cx="2987575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Live Agent: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Provides a 1-click "Connect to agent" button.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314450"/>
            <a:ext cx="4730055" cy="17371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184921"/>
            <a:ext cx="4730055" cy="9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775" y="428625"/>
            <a:ext cx="412625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1 • Initialization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600075"/>
            <a:ext cx="433257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Assistant Creation &amp; Basic Setup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6029325"/>
            <a:ext cx="95250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89415" y="1438275"/>
            <a:ext cx="23336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IBM watsonx Assistant • Create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Creating the Assistant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started by logging into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IBM Cloud (au-syd region)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and creating a new Assistant called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ShopEase AI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3346846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Onboarding Configurations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3584971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specified the chatbot deployment role as a developer building a web chat assistant for student capstone learning.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9625" y="2142291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2144315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Name: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ShopEase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232862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" y="2330648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Description: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AI-powered e-commerce customer support and shopping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270129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2703314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Language: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English (US)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365896"/>
            <a:ext cx="142875" cy="1428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2C54153-9406-267A-614A-E6FA2BE0F34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1267" r="43766" b="5219"/>
          <a:stretch>
            <a:fillRect/>
          </a:stretch>
        </p:blipFill>
        <p:spPr>
          <a:xfrm>
            <a:off x="5415855" y="1685925"/>
            <a:ext cx="6450707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953125"/>
            <a:ext cx="4730055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382440"/>
            <a:ext cx="4730055" cy="561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020615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801665"/>
            <a:ext cx="4730055" cy="561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4439840"/>
            <a:ext cx="4730055" cy="561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428625"/>
            <a:ext cx="472067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2 • Training Intent Models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600075"/>
            <a:ext cx="49567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Defining Customer Intents (#Intents)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988" y="6067425"/>
            <a:ext cx="123825" cy="1190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9365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Watson Intent Repository • #offers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What is an Intent?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Intent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represents the goal or purpose of the user’s message. We created 4 essential intents for the store: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755" y="2558653"/>
            <a:ext cx="83820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1303" y="3201590"/>
            <a:ext cx="831651" cy="3429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755" y="3977878"/>
            <a:ext cx="83820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4755" y="4616053"/>
            <a:ext cx="838200" cy="20955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863530" y="2561034"/>
            <a:ext cx="5499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650" y="251579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#Greeting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" y="2696765"/>
            <a:ext cx="2400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"hi", "hello", "good morning"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650" y="3153965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JetBrains Mono"/>
              </a:rPr>
              <a:t>#offers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650" y="3334940"/>
            <a:ext cx="3612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"Are there any deals?", "What offers are available?"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393501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JetBrains Mono"/>
              </a:rPr>
              <a:t>#product_search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0" y="4115990"/>
            <a:ext cx="3286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"i want to buy somthing", "looking for phone"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" y="4573190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JetBrains Mono"/>
              </a:rPr>
              <a:t>#track_order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" y="4754165"/>
            <a:ext cx="3133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"track my order", "where is my shipment"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7698768-3571-22A5-729E-84C44EE1C91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5277" r="59656" b="33595"/>
          <a:stretch>
            <a:fillRect/>
          </a:stretch>
        </p:blipFill>
        <p:spPr>
          <a:xfrm>
            <a:off x="5520631" y="1654226"/>
            <a:ext cx="6176068" cy="4775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B737C-883E-9084-4CC7-93CE6FB8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A361BB5-6121-4566-ACB9-1484E1B23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0728E8E-4862-D42D-CA23-29FB67CC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BCEDA9A-53A0-E128-8955-C2606F494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953125"/>
            <a:ext cx="4730055" cy="476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9707445A-7710-28D9-7A83-669D69A31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110EA62-74FB-A17E-3B21-41164E154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4F394A5E-CDCC-0BB7-F6B0-C36DA2247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382440"/>
            <a:ext cx="4730055" cy="56197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A2C65B3-09E4-5D91-BC84-AFAC0EF8AF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020615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F2A3E758-F798-BD25-471B-84DB667F09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801665"/>
            <a:ext cx="4730055" cy="56197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A0F98D0C-6E4F-5D92-8940-D237985308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4439840"/>
            <a:ext cx="4730055" cy="561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50B496-2DDE-B0EA-0B34-B6E15326F2C3}"/>
              </a:ext>
            </a:extLst>
          </p:cNvPr>
          <p:cNvSpPr txBox="1"/>
          <p:nvPr/>
        </p:nvSpPr>
        <p:spPr>
          <a:xfrm>
            <a:off x="485775" y="428625"/>
            <a:ext cx="472067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2 • Training Intent Models</a:t>
            </a:r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6AA7B0D9-1537-F666-1756-384088BE1F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96D427-A1BF-01BC-39C1-E47D15D01057}"/>
              </a:ext>
            </a:extLst>
          </p:cNvPr>
          <p:cNvSpPr txBox="1"/>
          <p:nvPr/>
        </p:nvSpPr>
        <p:spPr>
          <a:xfrm>
            <a:off x="485775" y="600075"/>
            <a:ext cx="49567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Defining Customer Intents (#Intents)</a:t>
            </a: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24EDC154-8113-D3A7-BB74-4ED8E3CD80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988" y="6067425"/>
            <a:ext cx="123825" cy="1190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AFCA13-412D-03A8-62A0-E00B09313DAA}"/>
              </a:ext>
            </a:extLst>
          </p:cNvPr>
          <p:cNvSpPr txBox="1"/>
          <p:nvPr/>
        </p:nvSpPr>
        <p:spPr>
          <a:xfrm>
            <a:off x="6589365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Watson Intent Repository • #offers Detail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35040B-7FDE-EE7E-2A79-713542ADA9A2}"/>
              </a:ext>
            </a:extLst>
          </p:cNvPr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What is an Intent?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619966-E915-9AF7-6DA1-35775274B13F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Intent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represents the goal or purpose of the user’s message. We created 4 essential intents for the store: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1073B55-9627-2D03-89C6-709B5DF953F0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5EE3C00-DBE4-680C-40EC-665597C3B5D0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451FE89-4138-8695-7244-45E1CD5869F5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54E43043-46FD-A6D8-A41B-01C32D31FD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D87177F5-777A-6E92-A1B7-771588784F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755" y="2558653"/>
            <a:ext cx="838200" cy="20955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407FB851-1856-7137-E4BF-B7832C55D6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1303" y="3201590"/>
            <a:ext cx="831651" cy="3429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E34A46F4-DA61-BDBB-66AD-C7089C3EAF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34755" y="3977878"/>
            <a:ext cx="838200" cy="20955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045D8DE0-A82E-26EC-152D-2E59FD0795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4755" y="4616053"/>
            <a:ext cx="838200" cy="20955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D76342E-257A-A208-98F0-EF81BEFFE392}"/>
              </a:ext>
            </a:extLst>
          </p:cNvPr>
          <p:cNvSpPr/>
          <p:nvPr/>
        </p:nvSpPr>
        <p:spPr>
          <a:xfrm>
            <a:off x="5863530" y="2561034"/>
            <a:ext cx="5499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CE8829-6FE6-D107-C9B6-7C93B4893257}"/>
              </a:ext>
            </a:extLst>
          </p:cNvPr>
          <p:cNvSpPr txBox="1"/>
          <p:nvPr/>
        </p:nvSpPr>
        <p:spPr>
          <a:xfrm>
            <a:off x="628650" y="251579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#Greeting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4E3385-6550-E23F-9FEA-FB9B478ABEFF}"/>
              </a:ext>
            </a:extLst>
          </p:cNvPr>
          <p:cNvSpPr txBox="1"/>
          <p:nvPr/>
        </p:nvSpPr>
        <p:spPr>
          <a:xfrm>
            <a:off x="628650" y="2696765"/>
            <a:ext cx="2400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"hi", "hello", "good morning"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5AD490-2150-0055-A47B-4F27B3268EAA}"/>
              </a:ext>
            </a:extLst>
          </p:cNvPr>
          <p:cNvSpPr txBox="1"/>
          <p:nvPr/>
        </p:nvSpPr>
        <p:spPr>
          <a:xfrm>
            <a:off x="628650" y="3153965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JetBrains Mono"/>
              </a:rPr>
              <a:t>#offers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08B816-DC66-5FB4-AC15-28FFD622B813}"/>
              </a:ext>
            </a:extLst>
          </p:cNvPr>
          <p:cNvSpPr txBox="1"/>
          <p:nvPr/>
        </p:nvSpPr>
        <p:spPr>
          <a:xfrm>
            <a:off x="628650" y="3334940"/>
            <a:ext cx="3612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"Are there any deals?", "What offers are available?"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E578A6-A51B-D07F-B999-DAFCF615B285}"/>
              </a:ext>
            </a:extLst>
          </p:cNvPr>
          <p:cNvSpPr txBox="1"/>
          <p:nvPr/>
        </p:nvSpPr>
        <p:spPr>
          <a:xfrm>
            <a:off x="628650" y="393501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JetBrains Mono"/>
              </a:rPr>
              <a:t>#product_search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0C21F3-E3CB-2A77-E4C6-AE9E02472F52}"/>
              </a:ext>
            </a:extLst>
          </p:cNvPr>
          <p:cNvSpPr txBox="1"/>
          <p:nvPr/>
        </p:nvSpPr>
        <p:spPr>
          <a:xfrm>
            <a:off x="628650" y="4115990"/>
            <a:ext cx="3286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"i want to buy somthing", "looking for phone"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760FEC-47D7-79FC-64C9-53F6CE69F5E4}"/>
              </a:ext>
            </a:extLst>
          </p:cNvPr>
          <p:cNvSpPr txBox="1"/>
          <p:nvPr/>
        </p:nvSpPr>
        <p:spPr>
          <a:xfrm>
            <a:off x="628650" y="4573190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JetBrains Mono"/>
              </a:rPr>
              <a:t>#track_order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2A386A-7CD4-7954-08C7-8B60A0A459C6}"/>
              </a:ext>
            </a:extLst>
          </p:cNvPr>
          <p:cNvSpPr txBox="1"/>
          <p:nvPr/>
        </p:nvSpPr>
        <p:spPr>
          <a:xfrm>
            <a:off x="628650" y="4754165"/>
            <a:ext cx="3133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User examples: "track my order", "where is my shipment"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411985-249D-5F37-D719-08539258280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5278" r="49422" b="23385"/>
          <a:stretch>
            <a:fillRect/>
          </a:stretch>
        </p:blipFill>
        <p:spPr>
          <a:xfrm>
            <a:off x="5516537" y="1685926"/>
            <a:ext cx="6166544" cy="467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7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915025"/>
            <a:ext cx="4730055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4730055" cy="6323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110061"/>
            <a:ext cx="4730055" cy="6418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3847207"/>
            <a:ext cx="4730055" cy="6323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428625"/>
            <a:ext cx="403487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3 • Parameter Extraction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5775" y="600075"/>
            <a:ext cx="423662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Entities &amp; Fuzzy Matching Setup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6053138"/>
            <a:ext cx="133350" cy="1190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6015" y="1438275"/>
            <a:ext cx="3000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Entities Table • @brand Fuzzy Matching Toggle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What is an Entity?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Entity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extracts specific keywords and values from what the user types. This provides essential context to give the right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275" y="2534840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@product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2715815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laptop, phone, headphones.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" y="3233886"/>
            <a:ext cx="437763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@brand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3452961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Dell, HP, Samsung.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275" y="3999607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JetBrains Mono"/>
              </a:rPr>
              <a:t>@order_id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275" y="4180582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ORD123, ORD456, ORD789.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63530" y="2730400"/>
            <a:ext cx="5499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53755" y="3233886"/>
            <a:ext cx="1200150" cy="20002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5DF1335-6BBE-B251-A544-A367EA474E0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2" t="15625" r="47048" b="15764"/>
          <a:stretch>
            <a:fillRect/>
          </a:stretch>
        </p:blipFill>
        <p:spPr>
          <a:xfrm>
            <a:off x="5530155" y="1685925"/>
            <a:ext cx="617607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2EB3E-2D67-E2F2-4ADC-85368055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E7D0F4E-66B0-4FA2-0CB5-9EA0C3C6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2BCAB06-6A47-E9B9-50A6-BA3798EE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AE1F1B7-4320-2833-E4B7-198B7FEAA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915025"/>
            <a:ext cx="4730055" cy="5143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1CA68BF-7142-4196-2EC5-699DCDF26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47DBEF1-6578-E050-F338-F94E5BC54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4820BDE-E32F-7B01-D7C8-55330DDB5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296663EF-3EA0-3DB6-3320-7C8FC03D63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4730055" cy="63237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FCCDB121-876B-27C3-8392-803A79E71E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110061"/>
            <a:ext cx="4730055" cy="641895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43DDB15B-AE55-11F0-D16D-632158C49A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3847207"/>
            <a:ext cx="4730055" cy="6323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372A4-81CB-A8E7-C08E-A78269423BB0}"/>
              </a:ext>
            </a:extLst>
          </p:cNvPr>
          <p:cNvSpPr txBox="1"/>
          <p:nvPr/>
        </p:nvSpPr>
        <p:spPr>
          <a:xfrm>
            <a:off x="485775" y="428625"/>
            <a:ext cx="403487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3 • Parameter Extraction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A130A134-FCC9-AECB-4721-8A6099F049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E3547-509E-C9E2-C394-A3D396947B59}"/>
              </a:ext>
            </a:extLst>
          </p:cNvPr>
          <p:cNvSpPr txBox="1"/>
          <p:nvPr/>
        </p:nvSpPr>
        <p:spPr>
          <a:xfrm>
            <a:off x="485775" y="600075"/>
            <a:ext cx="423662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Entities &amp; Fuzzy Matching Setup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93DAB4D-268A-9F81-9C0B-4C5250C411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6053138"/>
            <a:ext cx="133350" cy="1190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336295-08C6-539B-8E0B-63FE10C8E6CE}"/>
              </a:ext>
            </a:extLst>
          </p:cNvPr>
          <p:cNvSpPr txBox="1"/>
          <p:nvPr/>
        </p:nvSpPr>
        <p:spPr>
          <a:xfrm>
            <a:off x="6456015" y="1438275"/>
            <a:ext cx="3000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Entities Table • @brand Fuzzy Matching Toggle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8854B1-CF9A-FF74-B186-FC01FB27A463}"/>
              </a:ext>
            </a:extLst>
          </p:cNvPr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What is an Entity?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FA10A3-A4B2-89A6-2EC7-82A49C1D6A3E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An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Entity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extracts specific keywords and values from what the user types. This provides essential context to give the right answer.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BBEDE52-2432-34CD-1AD3-6BFD139F0413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B3E9DC4-18E0-ED9C-07AB-2260090EF306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9A4A8FC-E439-FA82-5DBC-ECFE7FF0D787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96AC6E3A-F33A-3998-6D78-E7A5B1A018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E83497-44F7-6D18-0DFB-6B62B64542AD}"/>
              </a:ext>
            </a:extLst>
          </p:cNvPr>
          <p:cNvSpPr txBox="1"/>
          <p:nvPr/>
        </p:nvSpPr>
        <p:spPr>
          <a:xfrm>
            <a:off x="676275" y="2534840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@product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E532AE-142F-586C-333C-73DAC92E3851}"/>
              </a:ext>
            </a:extLst>
          </p:cNvPr>
          <p:cNvSpPr txBox="1"/>
          <p:nvPr/>
        </p:nvSpPr>
        <p:spPr>
          <a:xfrm>
            <a:off x="676275" y="2715815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laptop, phone, headphones.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DF9B12-4026-1162-AB97-6061C704D718}"/>
              </a:ext>
            </a:extLst>
          </p:cNvPr>
          <p:cNvSpPr txBox="1"/>
          <p:nvPr/>
        </p:nvSpPr>
        <p:spPr>
          <a:xfrm>
            <a:off x="676275" y="3233886"/>
            <a:ext cx="437763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@brand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7CF717-F561-1A32-9F96-F2215244B9D2}"/>
              </a:ext>
            </a:extLst>
          </p:cNvPr>
          <p:cNvSpPr txBox="1"/>
          <p:nvPr/>
        </p:nvSpPr>
        <p:spPr>
          <a:xfrm>
            <a:off x="676275" y="3452961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Dell, HP, Samsung.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5B1BF-51E6-D34F-FB04-15933C790E94}"/>
              </a:ext>
            </a:extLst>
          </p:cNvPr>
          <p:cNvSpPr txBox="1"/>
          <p:nvPr/>
        </p:nvSpPr>
        <p:spPr>
          <a:xfrm>
            <a:off x="676275" y="3999607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JetBrains Mono"/>
              </a:rPr>
              <a:t>@order_id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850857-13A9-A526-C958-A7B845F497D0}"/>
              </a:ext>
            </a:extLst>
          </p:cNvPr>
          <p:cNvSpPr txBox="1"/>
          <p:nvPr/>
        </p:nvSpPr>
        <p:spPr>
          <a:xfrm>
            <a:off x="676275" y="4180582"/>
            <a:ext cx="4377630" cy="175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Values: ORD123, ORD456, ORD789.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AA27E1-15A5-0E7B-1346-047DD55CD92C}"/>
              </a:ext>
            </a:extLst>
          </p:cNvPr>
          <p:cNvSpPr/>
          <p:nvPr/>
        </p:nvSpPr>
        <p:spPr>
          <a:xfrm>
            <a:off x="5863530" y="2730400"/>
            <a:ext cx="5499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88F5E813-341F-D5AA-0418-151E310C37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53755" y="3233886"/>
            <a:ext cx="1200150" cy="200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B1150F-B5AC-FDFA-DBBE-D2A26E03FFC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015" t="15952" r="45686" b="17173"/>
          <a:stretch>
            <a:fillRect/>
          </a:stretch>
        </p:blipFill>
        <p:spPr>
          <a:xfrm>
            <a:off x="5486223" y="1714219"/>
            <a:ext cx="6254408" cy="470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4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22961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743920"/>
            <a:ext cx="4730055" cy="934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5775" y="428625"/>
            <a:ext cx="431869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4 • Conversation Logic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600075"/>
            <a:ext cx="453462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Dialog Flow &amp; Logic Tree Structure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6210300"/>
            <a:ext cx="104775" cy="1190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6065" y="1438275"/>
            <a:ext cx="26003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Watson Dialog Tree • Try it out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Conversation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Dialog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connects intents and entities to determine what the bot replies in each situation: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5845"/>
            <a:ext cx="43064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"Try It Out" Testing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414397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Watson provides a built-in real-time testing console to verify intent recognition and entity extraction instantly.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9625" y="2142291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2144315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Welcome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Automatically greets the customer upon opening the chat widget.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2514957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2516981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Product Search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which gadget the customer wants and suggests brand links.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288762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288964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Offers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Displays active store discounts and coupons.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307395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3075979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Order Tracking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for the Order ID and returns delivery updates.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3924895"/>
            <a:ext cx="123825" cy="14287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DFC9547-1B28-7BB3-4BB0-66111D8875D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1" t="15824" r="49421" b="6537"/>
          <a:stretch>
            <a:fillRect/>
          </a:stretch>
        </p:blipFill>
        <p:spPr>
          <a:xfrm>
            <a:off x="5525675" y="1637291"/>
            <a:ext cx="6166544" cy="5147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C953-8792-5F41-2246-F2A9D932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37D7346-8379-57D8-94E5-4EE7ECE53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5C91916-2DE5-1BFF-CEDD-1AA816B6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0A914BB2-EB19-604C-7039-A4B00EC8B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618F587-5168-0004-176B-4422FAC36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5" y="1323975"/>
            <a:ext cx="6166544" cy="3619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C3042C3-B78F-D590-866D-CBFB54325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4D79254-C4E1-6929-A708-D0585E5EC0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229612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E9594E1D-BE4D-CE0C-42DA-F152B8104F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743920"/>
            <a:ext cx="4730055" cy="9346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F8E543-8776-7E6E-30A6-C8F484235D66}"/>
              </a:ext>
            </a:extLst>
          </p:cNvPr>
          <p:cNvSpPr txBox="1"/>
          <p:nvPr/>
        </p:nvSpPr>
        <p:spPr>
          <a:xfrm>
            <a:off x="485775" y="428625"/>
            <a:ext cx="431869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4 • Conversation Logic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67CB78B-B76E-114B-CF1D-68A31F9C1F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0550A9-FE57-9D8F-4587-85CC86094156}"/>
              </a:ext>
            </a:extLst>
          </p:cNvPr>
          <p:cNvSpPr txBox="1"/>
          <p:nvPr/>
        </p:nvSpPr>
        <p:spPr>
          <a:xfrm>
            <a:off x="485775" y="600075"/>
            <a:ext cx="453462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Dialog Flow &amp; Logic Tree Structure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1DD00949-CC4A-5A4A-BE0B-D107C35657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6210300"/>
            <a:ext cx="104775" cy="1190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9360D6C-FBF5-701C-1F07-94AC3035A5A5}"/>
              </a:ext>
            </a:extLst>
          </p:cNvPr>
          <p:cNvSpPr txBox="1"/>
          <p:nvPr/>
        </p:nvSpPr>
        <p:spPr>
          <a:xfrm>
            <a:off x="6856065" y="1438275"/>
            <a:ext cx="26003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Watson Dialog Tree • Try it out Console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256AE6-C0B0-28EA-7BC9-FF845BDC7792}"/>
              </a:ext>
            </a:extLst>
          </p:cNvPr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Conversation Nodes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B168B9-FC5E-E5E9-DED8-4D1C4EB1A6C5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Dialog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connects intents and entities to determine what the bot replies in each situation: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082C1-4E73-2474-F526-53BD0E864083}"/>
              </a:ext>
            </a:extLst>
          </p:cNvPr>
          <p:cNvSpPr txBox="1"/>
          <p:nvPr/>
        </p:nvSpPr>
        <p:spPr>
          <a:xfrm>
            <a:off x="914400" y="3905845"/>
            <a:ext cx="43064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"Try It Out" Testing Panel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4A378-9822-B1D4-D888-B637AAEDC4F4}"/>
              </a:ext>
            </a:extLst>
          </p:cNvPr>
          <p:cNvSpPr txBox="1"/>
          <p:nvPr/>
        </p:nvSpPr>
        <p:spPr>
          <a:xfrm>
            <a:off x="714375" y="414397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Watson provides a built-in real-time testing console to verify intent recognition and entity extraction instantly.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70CD83-E726-1214-BEE5-26BE04B535BC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83C7FF3-9EE0-E7A9-4A6D-351756081225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49225F9-4F11-C5FB-4A37-13E4E7216F3A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4205CEA3-A9C0-FBC6-8169-8799914F75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7984694-D30D-1777-BC21-73D04E0CD1DB}"/>
              </a:ext>
            </a:extLst>
          </p:cNvPr>
          <p:cNvSpPr txBox="1"/>
          <p:nvPr/>
        </p:nvSpPr>
        <p:spPr>
          <a:xfrm>
            <a:off x="809625" y="2142291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BEF169-1233-A576-FE15-09450C59C514}"/>
              </a:ext>
            </a:extLst>
          </p:cNvPr>
          <p:cNvSpPr txBox="1"/>
          <p:nvPr/>
        </p:nvSpPr>
        <p:spPr>
          <a:xfrm>
            <a:off x="885825" y="2144315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Welcome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Automatically greets the customer upon opening the chat widget.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41A461-BCD6-48B5-4A52-CA9DE020CF77}"/>
              </a:ext>
            </a:extLst>
          </p:cNvPr>
          <p:cNvSpPr txBox="1"/>
          <p:nvPr/>
        </p:nvSpPr>
        <p:spPr>
          <a:xfrm>
            <a:off x="809625" y="2514957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652E0C-55F7-FE28-94F7-1CC112D24288}"/>
              </a:ext>
            </a:extLst>
          </p:cNvPr>
          <p:cNvSpPr txBox="1"/>
          <p:nvPr/>
        </p:nvSpPr>
        <p:spPr>
          <a:xfrm>
            <a:off x="885825" y="2516981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Product Search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which gadget the customer wants and suggests brand links.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BF0DA4-9A40-CE2A-F815-0AAE8F50AA8A}"/>
              </a:ext>
            </a:extLst>
          </p:cNvPr>
          <p:cNvSpPr txBox="1"/>
          <p:nvPr/>
        </p:nvSpPr>
        <p:spPr>
          <a:xfrm>
            <a:off x="809625" y="288762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F16410-569B-7467-27FD-F7F7602C2E0A}"/>
              </a:ext>
            </a:extLst>
          </p:cNvPr>
          <p:cNvSpPr txBox="1"/>
          <p:nvPr/>
        </p:nvSpPr>
        <p:spPr>
          <a:xfrm>
            <a:off x="885825" y="288964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Offers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Displays active store discounts and coupons.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053DB1-670B-8CFC-86CC-DEBEA780B66D}"/>
              </a:ext>
            </a:extLst>
          </p:cNvPr>
          <p:cNvSpPr txBox="1"/>
          <p:nvPr/>
        </p:nvSpPr>
        <p:spPr>
          <a:xfrm>
            <a:off x="809625" y="307395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2A21F7-36F2-AF60-FE88-CDCCB3E40619}"/>
              </a:ext>
            </a:extLst>
          </p:cNvPr>
          <p:cNvSpPr txBox="1"/>
          <p:nvPr/>
        </p:nvSpPr>
        <p:spPr>
          <a:xfrm>
            <a:off x="885825" y="3075979"/>
            <a:ext cx="4129980" cy="37266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Order Tracking Node: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Asks for the Order ID and returns delivery updates.</a:t>
            </a:r>
          </a:p>
        </p:txBody>
      </p:sp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7664C7FC-1452-7854-AF0A-046F94F4B5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3924895"/>
            <a:ext cx="123825" cy="142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243003-A0EA-DF8B-111B-BF2DA2C61EE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2546" t="15425" b="6389"/>
          <a:stretch>
            <a:fillRect/>
          </a:stretch>
        </p:blipFill>
        <p:spPr>
          <a:xfrm>
            <a:off x="5525675" y="1680504"/>
            <a:ext cx="6166544" cy="518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34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830" y="1314450"/>
            <a:ext cx="6976169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830" y="1323975"/>
            <a:ext cx="697617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163490"/>
            <a:ext cx="4730055" cy="11209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2307877" cy="647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952" y="2382440"/>
            <a:ext cx="2307877" cy="647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428625"/>
            <a:ext cx="363676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5 • Visual Branding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600075"/>
            <a:ext cx="381860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Web Chat UI Styling &amp; Colors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6210300"/>
            <a:ext cx="104775" cy="1190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6065" y="1438275"/>
            <a:ext cx="22002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IBM Customize UI • Style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1476375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Storefront Theme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To match an active retail shopping theme, we configured the Web Chat UI with custom brand colors: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25415"/>
            <a:ext cx="43064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Chat Title &amp; Theme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1495425"/>
            <a:ext cx="142875" cy="142875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28650" y="2525315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DBDD2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4900" y="2534840"/>
            <a:ext cx="131727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Primary Header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#dbdd28 (Lime)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50827" y="2525315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D81E1E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7077" y="2534840"/>
            <a:ext cx="117042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User Bubble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#d81e1e (Red)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3344465"/>
            <a:ext cx="12382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9625" y="3561516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3563540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Name: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ShopEase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625" y="3747849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" y="3749873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Base Theme: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Light Mode (crisp readability)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625" y="393418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825" y="393620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Quick Action Chips: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One-tap guidance buttons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EDE0AEA-DC87-7326-2DAA-97F5A6E2A81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485" t="35139" r="63823" b="5850"/>
          <a:stretch>
            <a:fillRect/>
          </a:stretch>
        </p:blipFill>
        <p:spPr>
          <a:xfrm>
            <a:off x="5215829" y="1695450"/>
            <a:ext cx="3845556" cy="47434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22257A-DC37-2C22-FBD8-61262E50DDB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2058" t="45758" r="2354" b="6426"/>
          <a:stretch>
            <a:fillRect/>
          </a:stretch>
        </p:blipFill>
        <p:spPr>
          <a:xfrm>
            <a:off x="9056340" y="1695451"/>
            <a:ext cx="3119718" cy="47624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8C086-AFE6-04AE-E9F3-2DD856F8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DBC08DD-5E0E-28FF-71C0-49AC5298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5E0B36E-177F-E32B-AB66-2A8FE9D6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A8DC03-3CEB-8DB0-B645-660368AC4952}"/>
              </a:ext>
            </a:extLst>
          </p:cNvPr>
          <p:cNvSpPr txBox="1"/>
          <p:nvPr/>
        </p:nvSpPr>
        <p:spPr>
          <a:xfrm>
            <a:off x="485775" y="428625"/>
            <a:ext cx="539308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6 • Code Generation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6AE1A555-0E1A-FCBD-3C05-5AD9A9310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FE886D-2BF2-93B3-83B9-74DA1BBFA8DF}"/>
              </a:ext>
            </a:extLst>
          </p:cNvPr>
          <p:cNvSpPr txBox="1"/>
          <p:nvPr/>
        </p:nvSpPr>
        <p:spPr>
          <a:xfrm>
            <a:off x="485775" y="600075"/>
            <a:ext cx="566273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Embed Code Generation &amp; Notepad Setup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28FEAAC3-344F-D540-D9F1-4FB112623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03" y="6067425"/>
            <a:ext cx="123825" cy="119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BECD9C-9FFB-115A-249C-32929F53BF4C}"/>
              </a:ext>
            </a:extLst>
          </p:cNvPr>
          <p:cNvSpPr txBox="1"/>
          <p:nvPr/>
        </p:nvSpPr>
        <p:spPr>
          <a:xfrm>
            <a:off x="6556027" y="1438275"/>
            <a:ext cx="28003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Notepad++ • ShopAssist_AI.html Source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7BC7C-A837-1512-656C-C82B45E2B1C6}"/>
              </a:ext>
            </a:extLst>
          </p:cNvPr>
          <p:cNvSpPr txBox="1"/>
          <p:nvPr/>
        </p:nvSpPr>
        <p:spPr>
          <a:xfrm>
            <a:off x="971550" y="1476375"/>
            <a:ext cx="424646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Generating the Web Chat Script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102A2-99D7-5265-7D53-EE7ACB814299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Under the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Embed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tab in IBM watsonx Assistant, Watson provides a lightweight JavaScript snippet to place on any website.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70BCB3A6-FDDC-BE5F-D6C5-B7DF32253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1495425"/>
            <a:ext cx="180975" cy="1428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87CEC60-9888-6D15-3330-C0F7008C07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4583" r="18014" b="17777"/>
          <a:stretch>
            <a:fillRect/>
          </a:stretch>
        </p:blipFill>
        <p:spPr>
          <a:xfrm>
            <a:off x="483587" y="2163365"/>
            <a:ext cx="10051063" cy="37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B1250-9127-5D1C-1EEA-B4D60DBD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F171F1A-F4FC-6BF8-83B1-56876B9B8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1AAEB7-751C-B00C-8AE4-948C859B4840}"/>
              </a:ext>
            </a:extLst>
          </p:cNvPr>
          <p:cNvSpPr txBox="1"/>
          <p:nvPr/>
        </p:nvSpPr>
        <p:spPr>
          <a:xfrm>
            <a:off x="485775" y="428625"/>
            <a:ext cx="539308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6 • Code Generation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CE700C34-A8B6-F6D7-91E9-32D30505C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0CC8C2-BA89-30D6-8B2F-888729F71FFE}"/>
              </a:ext>
            </a:extLst>
          </p:cNvPr>
          <p:cNvSpPr txBox="1"/>
          <p:nvPr/>
        </p:nvSpPr>
        <p:spPr>
          <a:xfrm>
            <a:off x="485775" y="600075"/>
            <a:ext cx="566273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Embed Code Generation &amp; Notepad Setup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E9DB9D64-2940-772E-E873-329667052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03" y="6067425"/>
            <a:ext cx="123825" cy="119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14BEC1-0139-62B2-3A97-BF604DB1DB11}"/>
              </a:ext>
            </a:extLst>
          </p:cNvPr>
          <p:cNvSpPr txBox="1"/>
          <p:nvPr/>
        </p:nvSpPr>
        <p:spPr>
          <a:xfrm>
            <a:off x="6556027" y="1438275"/>
            <a:ext cx="28003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Notepad++ • ShopAssist_AI.html Source Code</a:t>
            </a:r>
          </a:p>
        </p:txBody>
      </p:sp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348472EC-874F-4EB4-2AFC-628EC80A4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15" y="1201942"/>
            <a:ext cx="4730055" cy="1550789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005082C-D712-A50C-C450-3029D6F16EAF}"/>
              </a:ext>
            </a:extLst>
          </p:cNvPr>
          <p:cNvSpPr txBox="1"/>
          <p:nvPr/>
        </p:nvSpPr>
        <p:spPr>
          <a:xfrm>
            <a:off x="910478" y="1287492"/>
            <a:ext cx="432647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Creating ShopAssist_AI.html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76FC1B-335A-9B11-E703-789E6476B52B}"/>
              </a:ext>
            </a:extLst>
          </p:cNvPr>
          <p:cNvSpPr txBox="1"/>
          <p:nvPr/>
        </p:nvSpPr>
        <p:spPr>
          <a:xfrm>
            <a:off x="729503" y="1525617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opened </a:t>
            </a:r>
            <a:r>
              <a:rPr sz="1012" b="1" i="0" u="none">
                <a:solidFill>
                  <a:srgbClr val="475569"/>
                </a:solidFill>
                <a:latin typeface="Inter"/>
              </a:rPr>
              <a:t>Notepad++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and created a clean HTML file containing the integration keys:</a:t>
            </a:r>
          </a:p>
        </p:txBody>
      </p:sp>
      <p:pic>
        <p:nvPicPr>
          <p:cNvPr id="90" name="Picture 89" descr="image.png">
            <a:extLst>
              <a:ext uri="{FF2B5EF4-FFF2-40B4-BE49-F238E27FC236}">
                <a16:creationId xmlns:a16="http://schemas.microsoft.com/office/drawing/2014/main" id="{4CF2B7BE-7E17-1569-BF41-318F6EBD50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503" y="1306542"/>
            <a:ext cx="104775" cy="14287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6B27BB2A-822B-9F7B-51CD-354B0594646E}"/>
              </a:ext>
            </a:extLst>
          </p:cNvPr>
          <p:cNvSpPr txBox="1"/>
          <p:nvPr/>
        </p:nvSpPr>
        <p:spPr>
          <a:xfrm>
            <a:off x="824753" y="1953409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FFC044-7CA4-8C8D-2FAF-CCFC520A78C1}"/>
              </a:ext>
            </a:extLst>
          </p:cNvPr>
          <p:cNvSpPr txBox="1"/>
          <p:nvPr/>
        </p:nvSpPr>
        <p:spPr>
          <a:xfrm>
            <a:off x="900953" y="1955433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Integration ID: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f90ce059-6b35-4c4e...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8913B5-6855-AACC-A421-2A07DD82396D}"/>
              </a:ext>
            </a:extLst>
          </p:cNvPr>
          <p:cNvSpPr txBox="1"/>
          <p:nvPr/>
        </p:nvSpPr>
        <p:spPr>
          <a:xfrm>
            <a:off x="824753" y="213974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281D6E-B880-8B55-43EE-4A3448289638}"/>
              </a:ext>
            </a:extLst>
          </p:cNvPr>
          <p:cNvSpPr txBox="1"/>
          <p:nvPr/>
        </p:nvSpPr>
        <p:spPr>
          <a:xfrm>
            <a:off x="900953" y="214176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Region: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au-syd (Sydney)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5302AF-CFF9-F3CA-60FF-9582D1C9A777}"/>
              </a:ext>
            </a:extLst>
          </p:cNvPr>
          <p:cNvSpPr txBox="1"/>
          <p:nvPr/>
        </p:nvSpPr>
        <p:spPr>
          <a:xfrm>
            <a:off x="824753" y="2326074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17C908C-0E6C-425A-381A-D6D0909EC290}"/>
              </a:ext>
            </a:extLst>
          </p:cNvPr>
          <p:cNvSpPr txBox="1"/>
          <p:nvPr/>
        </p:nvSpPr>
        <p:spPr>
          <a:xfrm>
            <a:off x="900953" y="2328098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Service Instance ID: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0e68d00d-13e9...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BCDBF8DF-0539-467F-E283-EC79868FAE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6993"/>
          <a:stretch>
            <a:fillRect/>
          </a:stretch>
        </p:blipFill>
        <p:spPr>
          <a:xfrm>
            <a:off x="0" y="2879736"/>
            <a:ext cx="12066494" cy="29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0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4" y="1323975"/>
            <a:ext cx="6474871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5095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382440"/>
            <a:ext cx="4730055" cy="704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163490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944540"/>
            <a:ext cx="4730055" cy="704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8625"/>
            <a:ext cx="632281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7 • Testing &amp; Execution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775" y="600075"/>
            <a:ext cx="663895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Runtime Testing: Product Search &amp; Order Tracking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6210300"/>
            <a:ext cx="123825" cy="1190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22677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Live Chat Window • Real Conversation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1476375"/>
            <a:ext cx="432647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Testing Real Conversations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launched ShopAssist_AI.html in Google Chrome to test the conversation flows end-to-end: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1495425"/>
            <a:ext cx="1047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515790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1. Product Search: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" y="26967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</a:t>
            </a:r>
            <a:r>
              <a:rPr sz="900" b="0" i="1" u="none" dirty="0" err="1">
                <a:solidFill>
                  <a:srgbClr val="475569"/>
                </a:solidFill>
                <a:latin typeface="Inter"/>
              </a:rPr>
              <a:t>i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 want to buy som</a:t>
            </a:r>
            <a:r>
              <a:rPr lang="en-US" sz="900" b="0" i="1" u="none" dirty="0">
                <a:solidFill>
                  <a:srgbClr val="475569"/>
                </a:solidFill>
                <a:latin typeface="Inter"/>
              </a:rPr>
              <a:t>e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thing"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 Bot asks for category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"dell phone"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brand catalog link.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" y="3296840"/>
            <a:ext cx="1323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Inter"/>
              </a:rPr>
              <a:t>2. Promotional Offers: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" y="347781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"are there any offers"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10% off laptops, ₹500 off orders over ₹5,000, and free shipping.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407789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3. Order Status Tracking: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42588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"track my order"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asks for Order ID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 gives ORD789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confirms: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"Delivered Today"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95CE21D-683E-4EFD-57CE-9E78C052B20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2426" t="15294" r="1533" b="7708"/>
          <a:stretch>
            <a:fillRect/>
          </a:stretch>
        </p:blipFill>
        <p:spPr>
          <a:xfrm>
            <a:off x="5537333" y="1710018"/>
            <a:ext cx="3174792" cy="5095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044C4D5-175C-7BFE-70A8-74E70138C69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1848" t="15557" r="1406" b="7708"/>
          <a:stretch>
            <a:fillRect/>
          </a:stretch>
        </p:blipFill>
        <p:spPr>
          <a:xfrm>
            <a:off x="8759750" y="1724025"/>
            <a:ext cx="3260799" cy="5095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83E61-6426-749E-03AE-2409C352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C3740A9-75D9-004B-F39A-56AABBB1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D21F3E1-65A0-B083-25DA-4556203D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4854261" cy="5292538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12DF187-260E-FD94-DE21-D9464115D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014F14-972E-79D5-AD17-159620F72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154" y="1323975"/>
            <a:ext cx="4844737" cy="3619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0D6AAB5-495C-25B2-1018-2EB52BB1B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314450"/>
            <a:ext cx="4730055" cy="93464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C3E2F46-FD81-00F6-2D8A-B0EF501D8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382440"/>
            <a:ext cx="4730055" cy="70485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A06D387-36ED-BCA2-F4C4-192657440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163490"/>
            <a:ext cx="4730055" cy="7048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5286FBBF-A6E9-1315-8273-41B0C6392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944540"/>
            <a:ext cx="4730055" cy="7048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B3503D-7FCC-978E-2C34-D3984003DD59}"/>
              </a:ext>
            </a:extLst>
          </p:cNvPr>
          <p:cNvSpPr txBox="1"/>
          <p:nvPr/>
        </p:nvSpPr>
        <p:spPr>
          <a:xfrm>
            <a:off x="485775" y="428625"/>
            <a:ext cx="6322814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7 • Testing &amp; Execution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B93F341A-2A81-C9E3-6658-BE4808395B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D85D265-D6E6-566A-89F8-C37923EF7C45}"/>
              </a:ext>
            </a:extLst>
          </p:cNvPr>
          <p:cNvSpPr txBox="1"/>
          <p:nvPr/>
        </p:nvSpPr>
        <p:spPr>
          <a:xfrm>
            <a:off x="485775" y="600075"/>
            <a:ext cx="663895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Runtime Testing: Product Search &amp; Order Tracking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2CD5DBD8-940E-073D-2727-2F153ABEDE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6210300"/>
            <a:ext cx="123825" cy="1190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F13208-2637-870A-2C20-7E254F4E65E0}"/>
              </a:ext>
            </a:extLst>
          </p:cNvPr>
          <p:cNvSpPr txBox="1"/>
          <p:nvPr/>
        </p:nvSpPr>
        <p:spPr>
          <a:xfrm>
            <a:off x="6422677" y="1438275"/>
            <a:ext cx="2733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Live Chat Window • Real Conversation Test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70B8DF-699E-EA6C-826C-D5C756CE4E54}"/>
              </a:ext>
            </a:extLst>
          </p:cNvPr>
          <p:cNvSpPr txBox="1"/>
          <p:nvPr/>
        </p:nvSpPr>
        <p:spPr>
          <a:xfrm>
            <a:off x="895350" y="1476375"/>
            <a:ext cx="4326478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Testing Real Conversations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6820AE-4A31-05A8-1E2A-2F6828966755}"/>
              </a:ext>
            </a:extLst>
          </p:cNvPr>
          <p:cNvSpPr txBox="1"/>
          <p:nvPr/>
        </p:nvSpPr>
        <p:spPr>
          <a:xfrm>
            <a:off x="714375" y="1714500"/>
            <a:ext cx="430143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We launched ShopAssist_AI.html in Google Chrome to test the conversation flows end-to-end: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BC96736-10DA-204A-B63D-4F6084B8265C}"/>
              </a:ext>
            </a:extLst>
          </p:cNvPr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2A4B4DC-D8E1-C163-0AA1-DB390A02B2DF}"/>
              </a:ext>
            </a:extLst>
          </p:cNvPr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1CF1701-CA86-8B5B-F07A-8E9CEA3EA4CE}"/>
              </a:ext>
            </a:extLst>
          </p:cNvPr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6158B34-90C9-DB16-63E1-991DDA514B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1495425"/>
            <a:ext cx="104775" cy="1428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77CCF77-560B-5691-6F99-6952BE5EF559}"/>
              </a:ext>
            </a:extLst>
          </p:cNvPr>
          <p:cNvSpPr txBox="1"/>
          <p:nvPr/>
        </p:nvSpPr>
        <p:spPr>
          <a:xfrm>
            <a:off x="628650" y="2515790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1. Product Search: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B0155E-152E-3D44-B9FF-2C6844CA8DCA}"/>
              </a:ext>
            </a:extLst>
          </p:cNvPr>
          <p:cNvSpPr txBox="1"/>
          <p:nvPr/>
        </p:nvSpPr>
        <p:spPr>
          <a:xfrm>
            <a:off x="628650" y="26967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</a:t>
            </a:r>
            <a:r>
              <a:rPr sz="900" b="0" i="1" u="none" dirty="0" err="1">
                <a:solidFill>
                  <a:srgbClr val="475569"/>
                </a:solidFill>
                <a:latin typeface="Inter"/>
              </a:rPr>
              <a:t>i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 want to buy som</a:t>
            </a:r>
            <a:r>
              <a:rPr lang="en-US" sz="900" b="0" i="1" u="none" dirty="0">
                <a:solidFill>
                  <a:srgbClr val="475569"/>
                </a:solidFill>
                <a:latin typeface="Inter"/>
              </a:rPr>
              <a:t>e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thing"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 Bot asks for category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"dell phone"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brand catalog link.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4A2231-8CBD-6266-F6E0-0EF34AB8EAB0}"/>
              </a:ext>
            </a:extLst>
          </p:cNvPr>
          <p:cNvSpPr txBox="1"/>
          <p:nvPr/>
        </p:nvSpPr>
        <p:spPr>
          <a:xfrm>
            <a:off x="628650" y="3296840"/>
            <a:ext cx="1323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Inter"/>
              </a:rPr>
              <a:t>2. Promotional Offers: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5FC965-26E1-F5D3-6A6C-9F00C0326379}"/>
              </a:ext>
            </a:extLst>
          </p:cNvPr>
          <p:cNvSpPr txBox="1"/>
          <p:nvPr/>
        </p:nvSpPr>
        <p:spPr>
          <a:xfrm>
            <a:off x="628650" y="347781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"are there any offers"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returns 10% off laptops, ₹500 off orders over ₹5,000, and free shipping.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D6D896-7B45-35D7-ACB3-1DA08516F400}"/>
              </a:ext>
            </a:extLst>
          </p:cNvPr>
          <p:cNvSpPr txBox="1"/>
          <p:nvPr/>
        </p:nvSpPr>
        <p:spPr>
          <a:xfrm>
            <a:off x="628650" y="407789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3. Order Status Tracking: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3D44A4-C0F8-2088-11E9-E5168750E3AB}"/>
              </a:ext>
            </a:extLst>
          </p:cNvPr>
          <p:cNvSpPr txBox="1"/>
          <p:nvPr/>
        </p:nvSpPr>
        <p:spPr>
          <a:xfrm>
            <a:off x="628650" y="4258865"/>
            <a:ext cx="44443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Inter"/>
              </a:rPr>
              <a:t>User: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"track my order"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asks for Order ID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User gives ORD789 </a:t>
            </a:r>
            <a:r>
              <a:rPr lang="en-IN" sz="9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Bot confirms: </a:t>
            </a:r>
            <a:r>
              <a:rPr sz="900" b="0" i="1" u="none" dirty="0">
                <a:solidFill>
                  <a:srgbClr val="475569"/>
                </a:solidFill>
                <a:latin typeface="Inter"/>
              </a:rPr>
              <a:t>"Delivered Today"</a:t>
            </a:r>
            <a:r>
              <a:rPr sz="9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99B496-A0F1-9595-EB08-2C57020173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1567" t="15833" r="763" b="6250"/>
          <a:stretch>
            <a:fillRect/>
          </a:stretch>
        </p:blipFill>
        <p:spPr>
          <a:xfrm>
            <a:off x="6422677" y="1704976"/>
            <a:ext cx="337348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60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630" y="1314450"/>
            <a:ext cx="6185594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096000"/>
            <a:ext cx="473005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04" y="1323975"/>
            <a:ext cx="7174287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155" y="1685925"/>
            <a:ext cx="6166544" cy="473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314450"/>
            <a:ext cx="4435849" cy="11209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568773"/>
            <a:ext cx="4435849" cy="15924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428625"/>
            <a:ext cx="5326409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Step 8 • Production Deployment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685800"/>
            <a:ext cx="101917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600075"/>
            <a:ext cx="55927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 ExtraBold"/>
              </a:rPr>
              <a:t>Storefront Integration &amp; Fallback Handling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6210300"/>
            <a:ext cx="123825" cy="1190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22652" y="1438275"/>
            <a:ext cx="32670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JetBrains Mono"/>
              </a:rPr>
              <a:t>Flipkart Storefront • ShopEase AI Live &amp;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1476375"/>
            <a:ext cx="426647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Embedded in E-Commerce Storefront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1714500"/>
            <a:ext cx="430143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 dirty="0">
                <a:solidFill>
                  <a:srgbClr val="475569"/>
                </a:solidFill>
                <a:latin typeface="Inter"/>
              </a:rPr>
              <a:t>We embedded the </a:t>
            </a:r>
            <a:r>
              <a:rPr sz="1012" b="1" i="0" u="none" dirty="0" err="1">
                <a:solidFill>
                  <a:srgbClr val="475569"/>
                </a:solidFill>
                <a:latin typeface="Inter"/>
              </a:rPr>
              <a:t>ShopEase</a:t>
            </a:r>
            <a:r>
              <a:rPr sz="1012" b="1" i="0" u="none" dirty="0">
                <a:solidFill>
                  <a:srgbClr val="475569"/>
                </a:solidFill>
                <a:latin typeface="Inter"/>
              </a:rPr>
              <a:t> AI</a:t>
            </a:r>
            <a:r>
              <a:rPr sz="1012" b="0" i="0" u="none" dirty="0">
                <a:solidFill>
                  <a:srgbClr val="475569"/>
                </a:solidFill>
                <a:latin typeface="Inter"/>
              </a:rPr>
              <a:t> widget into a live retail storefront (Flipkart-style design) with real product categories, search bars, and promotional banners.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2730698"/>
            <a:ext cx="4286473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Smart Fallback &amp; Agent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375" y="2968823"/>
            <a:ext cx="4301430" cy="186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When a customer message is unclear or unrecognized: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350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87330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11155" y="146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1495425"/>
            <a:ext cx="1619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2749748"/>
            <a:ext cx="14287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9625" y="321028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3212306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Friendly Guidance: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012" b="0" i="1" u="none">
                <a:solidFill>
                  <a:srgbClr val="475569"/>
                </a:solidFill>
                <a:latin typeface="Inter"/>
              </a:rPr>
              <a:t>"I didn't understand. You can try rephrasing."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3396615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3398639"/>
            <a:ext cx="4129980" cy="186332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Clarification: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012" b="0" i="1" u="none">
                <a:solidFill>
                  <a:srgbClr val="475569"/>
                </a:solidFill>
                <a:latin typeface="Inter"/>
              </a:rPr>
              <a:t>"Can you reword your statement?"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625" y="3582947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3584971"/>
            <a:ext cx="4129980" cy="414337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475569"/>
                </a:solidFill>
                <a:latin typeface="Inter"/>
              </a:rPr>
              <a:t>One-Click Escalation:</a:t>
            </a:r>
            <a:r>
              <a:rPr sz="1012" b="0" i="0" u="none">
                <a:solidFill>
                  <a:srgbClr val="475569"/>
                </a:solidFill>
                <a:latin typeface="Inter"/>
              </a:rPr>
              <a:t> High-visibility red button allows direct transfer to human support.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2293" y="3799582"/>
            <a:ext cx="1238250" cy="228004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7830" y="2340322"/>
            <a:ext cx="104775" cy="1143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90DC82D-8625-9485-79FF-752F00DFA02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0312" t="10000" r="956" b="6388"/>
          <a:stretch>
            <a:fillRect/>
          </a:stretch>
        </p:blipFill>
        <p:spPr>
          <a:xfrm>
            <a:off x="5015805" y="1671784"/>
            <a:ext cx="7174288" cy="41283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975" y="4068067"/>
            <a:ext cx="4972050" cy="1009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0723" y="2637532"/>
            <a:ext cx="4430553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150" dirty="0">
                <a:solidFill>
                  <a:srgbClr val="0F172A"/>
                </a:solidFill>
                <a:latin typeface="Plus Jakarta Sans ExtraBold"/>
              </a:rPr>
              <a:t>THANK YOU</a:t>
            </a:r>
            <a:endParaRPr sz="3150" b="0" i="0" u="none" dirty="0">
              <a:solidFill>
                <a:srgbClr val="0F172A"/>
              </a:solidFill>
              <a:latin typeface="Plus Jakarta Sans ExtraBold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96125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00500" y="4287142"/>
            <a:ext cx="1219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Inter"/>
              </a:rPr>
              <a:t>Team Member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Ritika Tyagi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0" i="0" u="none" dirty="0">
                <a:solidFill>
                  <a:srgbClr val="475569"/>
                </a:solidFill>
                <a:latin typeface="Inter SemiBold"/>
              </a:rPr>
              <a:t>Reg No: 12528797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95950" y="4287142"/>
            <a:ext cx="9525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1725" y="4287142"/>
            <a:ext cx="20097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Inter"/>
              </a:rPr>
              <a:t>Team Member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Rishabh Singh Bhadouriya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endParaRPr lang="en-US" sz="1200" b="0" i="0" u="none" dirty="0">
              <a:solidFill>
                <a:srgbClr val="1E293B"/>
              </a:solidFill>
              <a:latin typeface="Inter"/>
            </a:endParaRPr>
          </a:p>
          <a:p>
            <a:pPr algn="l"/>
            <a:r>
              <a:rPr sz="1200" b="0" i="0" u="none" dirty="0">
                <a:solidFill>
                  <a:srgbClr val="475569"/>
                </a:solidFill>
                <a:latin typeface="Inter SemiBold"/>
              </a:rPr>
              <a:t>Reg No: 12523735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1542</Words>
  <Application>Microsoft Office PowerPoint</Application>
  <PresentationFormat>Widescreen</PresentationFormat>
  <Paragraphs>195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Inter</vt:lpstr>
      <vt:lpstr>Inter SemiBold</vt:lpstr>
      <vt:lpstr>JetBrains Mono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Rishabh Singh Bhadouriya</cp:lastModifiedBy>
  <cp:revision>3</cp:revision>
  <dcterms:created xsi:type="dcterms:W3CDTF">2013-01-27T09:14:16Z</dcterms:created>
  <dcterms:modified xsi:type="dcterms:W3CDTF">2026-09-04T19:09:08Z</dcterms:modified>
  <cp:category/>
</cp:coreProperties>
</file>